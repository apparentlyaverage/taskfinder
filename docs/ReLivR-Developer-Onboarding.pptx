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DEVELOPER_ONBOARDING.md — intro. Welcome the developer; explain the doc is the script and this deck is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§1 — What we are building. Cover the marketplace loop, Local, launch date, ZAR/POPIA, campus-by-campus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§1 — Vision, Mission, Business statement. Note these were synthesised from owner decisions + the growth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§2 — Where the build stands. Built vs parked; stress the state doc as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§3 — Your role. Five personas, the working loop, end-to-end feature ownership, the state doc as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§3 — Autonomy boundaries + §11 sign-off matrix. Contact: uthando.mkwanazi@gmail.com.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§4 — Architecture. Monolith + single-file frontend are deliberate; query-time truth is the core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§5 — Local setup, QA accounts (owner holds credentials, never in repo), and the dev gotchas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§6 Engineering conventions + §7 Deployment &amp;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§8 Security &amp; compliance + §9 The launch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§10 Product principles + §12 Definition of Done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§13 — First-day reading order. Close with the mantra.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170432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81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ReLivR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713232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Onboarding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6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MORE · STRESS LESS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3232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docs/DEVELOPER_ONBOARDING.md  ·  follow along §1–§13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we’re building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campus services marketplace — plus the campus businesses around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pPr indent="0" marL="0">
              <a:buNone/>
            </a:pPr>
            <a:r>
              <a:rPr lang="en-US" sz="15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 tasks.  </a:t>
            </a:r>
            <a:pPr indent="0" marL="0">
              <a:buNone/>
            </a:pPr>
            <a:r>
              <a:rPr lang="en-US" sz="15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</a:t>
            </a:r>
            <a:pPr indent="0" marL="0">
              <a:buNone/>
            </a:pPr>
            <a:r>
              <a:rPr lang="en-US" sz="15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bid, deliver, and build a verified public reputation.  </a:t>
            </a:r>
            <a:pPr indent="0" marL="0">
              <a:buNone/>
            </a:pPr>
            <a:r>
              <a:rPr lang="en-US" sz="15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pPr indent="0" marL="0">
              <a:buNone/>
            </a:pPr>
            <a:r>
              <a:rPr lang="en-US" sz="15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brings campus businesses in — deals, bookings, student-only QR discounts.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901952" cy="178308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27432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Jul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4944" y="32918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— Rhodes first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33472" y="2514600"/>
            <a:ext cx="1901952" cy="178308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9776" y="27432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 · SA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79776" y="32918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market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18304" y="2514600"/>
            <a:ext cx="1901952" cy="178308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27432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64608" y="32918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by design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03136" y="2514600"/>
            <a:ext cx="1901952" cy="178308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74320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49440" y="329184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pre-seeded, data-driven</a:t>
            </a:r>
            <a:endParaRPr lang="en-US" sz="1150" dirty="0"/>
          </a:p>
        </p:txBody>
      </p:sp>
      <p:pic>
        <p:nvPicPr>
          <p:cNvPr id="1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· Mission · Business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00200"/>
            <a:ext cx="475488" cy="475488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172858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260604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 runs its own trusted economy.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37560" y="13258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3592" y="1600200"/>
            <a:ext cx="475488" cy="475488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974" y="172858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93592" y="260604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who need things done with students who can do them — safely, verifiably, affordably.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13258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82512" y="1600200"/>
            <a:ext cx="475488" cy="475488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94" y="1728582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82512" y="260604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during beta → marketplace fees on escrow + business tools (boosts, deals, B2B).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6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for build decisions — the owner may re-word for external use.</a:t>
            </a:r>
            <a:endParaRPr lang="en-US" sz="1050" dirty="0"/>
          </a:p>
        </p:txBody>
      </p:sp>
      <p:pic>
        <p:nvPicPr>
          <p:cNvPr id="19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build stands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only — DEVELOPMENT_TEAM_STATE.md governs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880360"/>
          </a:xfrm>
          <a:prstGeom prst="roundRect">
            <a:avLst>
              <a:gd name="adj" fmla="val 317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708831"/>
            <a:ext cx="185075" cy="185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14884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core — tasks, bids, reviews, disputes, messaging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onboarding — email + Google, consent, intent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B2B — deals, QR, bookings, boosts, retainers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PWA + push, flags, admin + audit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2377440" cy="2880360"/>
          </a:xfrm>
          <a:prstGeom prst="roundRect">
            <a:avLst>
              <a:gd name="adj" fmla="val 3846"/>
            </a:avLst>
          </a:prstGeom>
          <a:solidFill>
            <a:srgbClr val="FAF8FE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00200"/>
            <a:ext cx="402336" cy="402336"/>
          </a:xfrm>
          <a:prstGeom prst="ellipse">
            <a:avLst/>
          </a:prstGeom>
          <a:solidFill>
            <a:srgbClr val="96909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71" y="1708831"/>
            <a:ext cx="185075" cy="185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75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90872" y="214884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ID verification — provider + legal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payments &amp; escrow — owner green-light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live visual pass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08660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</a:t>
            </a:r>
            <a:endParaRPr lang="en-US" sz="5800" dirty="0"/>
          </a:p>
        </p:txBody>
      </p:sp>
      <p:sp>
        <p:nvSpPr>
          <p:cNvPr id="15" name="Text 11"/>
          <p:cNvSpPr/>
          <p:nvPr/>
        </p:nvSpPr>
        <p:spPr>
          <a:xfrm>
            <a:off x="708660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green</a:t>
            </a:r>
            <a:endParaRPr lang="en-US" sz="1200" dirty="0"/>
          </a:p>
        </p:txBody>
      </p:sp>
      <p:pic>
        <p:nvPicPr>
          <p:cNvPr id="16" name="Image 2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— you are the whole agency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777240" cy="777240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777240" cy="77724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574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1371600"/>
            <a:ext cx="777240" cy="777240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Security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1371600"/>
            <a:ext cx="777240" cy="77724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578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1371600"/>
            <a:ext cx="777240" cy="777240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EEF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01752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33472" y="301752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EEFB"/>
          </a:solidFill>
          <a:ln/>
        </p:spPr>
      </p:sp>
      <p:sp>
        <p:nvSpPr>
          <p:cNvPr id="22" name="Text 20"/>
          <p:cNvSpPr/>
          <p:nvPr/>
        </p:nvSpPr>
        <p:spPr>
          <a:xfrm>
            <a:off x="2633472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16552" y="301752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18304" y="301752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01384" y="301752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03136" y="3017520"/>
            <a:ext cx="1783080" cy="566928"/>
          </a:xfrm>
          <a:prstGeom prst="roundRect">
            <a:avLst>
              <a:gd name="adj" fmla="val 14516"/>
            </a:avLst>
          </a:prstGeom>
          <a:solidFill>
            <a:srgbClr val="F3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6803136" y="30175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Update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DEVELOPMENT_TEAM_STATE.md first — every session.  </a:t>
            </a:r>
            <a:pPr indent="0" marL="0">
              <a:buNone/>
            </a:pPr>
            <a:r>
              <a:rPr lang="en-US" sz="145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isn’t in the doc, it didn’t happen.</a:t>
            </a:r>
            <a:endParaRPr lang="en-US" sz="1450" dirty="0"/>
          </a:p>
        </p:txBody>
      </p:sp>
      <p:pic>
        <p:nvPicPr>
          <p:cNvPr id="30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— decide vs. escalate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1708831"/>
            <a:ext cx="185075" cy="185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214884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schema design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within the design system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Refactors — tests stay green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copy with no new claims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FAF8FE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600200"/>
            <a:ext cx="402336" cy="402336"/>
          </a:xfrm>
          <a:prstGeom prst="ellipse">
            <a:avLst/>
          </a:prstGeom>
          <a:solidFill>
            <a:srgbClr val="13111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91" y="1708831"/>
            <a:ext cx="185075" cy="185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SIGNS OFF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65192" y="214884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— providers, fees, billing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escrow (G) · ID checks (A1)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PII, legal wording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factual claims · data deletion</a:t>
            </a:r>
            <a:endParaRPr lang="en-US" sz="1300" dirty="0"/>
          </a:p>
        </p:txBody>
      </p:sp>
      <p:pic>
        <p:nvPicPr>
          <p:cNvPr id="13" name="Image 2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simple on purpose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989320" cy="8229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17904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08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371600" y="1728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file: src/App.jsx — tokens, components, router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142646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95160" y="1426464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131118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1426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267712"/>
            <a:ext cx="5989320" cy="8229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871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monolith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server/routes/* — the retired microservices live in legacy/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83680" y="239572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995160" y="2395728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131118"/>
          </a:solidFill>
          <a:ln/>
        </p:spPr>
      </p:sp>
      <p:sp>
        <p:nvSpPr>
          <p:cNvPr id="16" name="Text 12"/>
          <p:cNvSpPr/>
          <p:nvPr/>
        </p:nvSpPr>
        <p:spPr>
          <a:xfrm>
            <a:off x="6995160" y="23957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236976"/>
            <a:ext cx="5989320" cy="822960"/>
          </a:xfrm>
          <a:prstGeom prst="roundRect">
            <a:avLst>
              <a:gd name="adj" fmla="val 10000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564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16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6667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db/init/NN_*.sql — idempotent, applied to LIVE Neon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83680" y="336499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995160" y="3364992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131118"/>
          </a:solidFill>
          <a:ln/>
        </p:spPr>
      </p:sp>
      <p:sp>
        <p:nvSpPr>
          <p:cNvPr id="23" name="Text 18"/>
          <p:cNvSpPr/>
          <p:nvPr/>
        </p:nvSpPr>
        <p:spPr>
          <a:xfrm>
            <a:off x="6995160" y="33649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343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truth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633472" y="43434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633472" y="4343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dark behind flags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718304" y="43434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18304" y="4343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is best-effort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803136" y="43434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03136" y="43434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token revocation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Day-one setup — and what bites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131118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D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.env.example server/.env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D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server &amp;&amp; npm run dev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D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frontend &amp;&amp; npm run dev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D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· npm run build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D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migrate N =&gt; LIVE Neon DB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34840" y="1444752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595" y="1543507"/>
            <a:ext cx="168250" cy="168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6048" y="1371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proxy eats /deals-style URLs — navigate client-side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2221992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95" y="2320747"/>
            <a:ext cx="168250" cy="168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6048" y="2148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 limit: 5 per 15 min — mint JWTs in tests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34840" y="2999232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595" y="3097987"/>
            <a:ext cx="168250" cy="168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6048" y="2926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gate 503s non-bypass users — use @relivr.test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434840" y="3776472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595" y="3875227"/>
            <a:ext cx="168250" cy="1682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56048" y="37033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/auth/me is snake_case; register &amp; login are camelCase</a:t>
            </a:r>
            <a:endParaRPr lang="en-US" sz="1250" dirty="0"/>
          </a:p>
        </p:txBody>
      </p:sp>
      <p:pic>
        <p:nvPicPr>
          <p:cNvPr id="17" name="Image 4" descr="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08176"/>
            <a:ext cx="365760" cy="365760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1506931"/>
            <a:ext cx="168250" cy="16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9848" y="1371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migrations — next NN_*.sql, noted in the state doc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29968"/>
            <a:ext cx="365760" cy="365760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2128723"/>
            <a:ext cx="168250" cy="16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19933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input · parameterised SQL only · audit admin writes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750515"/>
            <a:ext cx="168250" cy="168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9848" y="26151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green before push — record the new test total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3273552"/>
            <a:ext cx="365760" cy="365760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3372307"/>
            <a:ext cx="168250" cy="168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9848" y="3236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&amp; fonts from the token block — never hardcode hex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895344"/>
            <a:ext cx="365760" cy="365760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3994099"/>
            <a:ext cx="168250" cy="168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69848" y="3858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feat(scope): commits → main · small and scoped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989320" y="13716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3EEFB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245352" y="1591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245352" y="20116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← push main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← push main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← migrate N (manual)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optional-by-design: missing key = silent no-op</a:t>
            </a:r>
            <a:endParaRPr lang="en-US" sz="1200" dirty="0"/>
          </a:p>
        </p:txBody>
      </p:sp>
      <p:pic>
        <p:nvPicPr>
          <p:cNvPr id="21" name="Image 5" descr="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71" y="1553383"/>
            <a:ext cx="185075" cy="185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417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POPIA-first — consent, minimise, export, delete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1" y="2303191"/>
            <a:ext cx="185075" cy="185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2167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git — rotate anything exposed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944368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1" y="3052999"/>
            <a:ext cx="185075" cy="1850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2916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the boundary — server-side enforcement always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7E22C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1" y="3802807"/>
            <a:ext cx="185075" cy="1850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36667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Profanity list is GPLv3 — keep it server-side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577840" y="1371600"/>
            <a:ext cx="3017520" cy="3063240"/>
          </a:xfrm>
          <a:prstGeom prst="roundRect">
            <a:avLst>
              <a:gd name="adj" fmla="val 3030"/>
            </a:avLst>
          </a:prstGeom>
          <a:solidFill>
            <a:srgbClr val="131118"/>
          </a:solidFill>
          <a:ln/>
          <a:effectLst>
            <a:outerShdw sx="100000" sy="100000" kx="0" ky="0" algn="bl" rotWithShape="0" blurRad="101600" dist="25400" dir="2700000">
              <a:srgbClr val="131118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664208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GATE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852160" y="224028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7 July 2026: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non-bypass users get 503 + the Founding Member page.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Bypass: admin · business · @relivr.test</a:t>
            </a:r>
            <a:endParaRPr lang="en-US" sz="1250" dirty="0"/>
          </a:p>
        </p:txBody>
      </p:sp>
      <p:pic>
        <p:nvPicPr>
          <p:cNvPr id="19" name="Image 5" descr="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→ Definition of Done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37560" y="1371600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13716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truth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3716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dark, roll out targeted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29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 beta, priced later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029968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29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029968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F3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2996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always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social proof — ever. We ripped it out once; it stays out.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FAF8FE"/>
          </a:solidFill>
          <a:ln w="12700">
            <a:solidFill>
              <a:srgbClr val="D3C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55648" y="3520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38528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FAF8FE"/>
          </a:solidFill>
          <a:ln w="12700">
            <a:solidFill>
              <a:srgbClr val="D3C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+ tests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45536" y="3520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28416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FAF8FE"/>
          </a:solidFill>
          <a:ln w="12700">
            <a:solidFill>
              <a:srgbClr val="D3C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+ build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35424" y="3520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18304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FAF8FE"/>
          </a:solidFill>
          <a:ln w="12700">
            <a:solidFill>
              <a:srgbClr val="D3C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(proof)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25312" y="3520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08192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FAF8FE"/>
          </a:solidFill>
          <a:ln w="12700">
            <a:solidFill>
              <a:srgbClr val="D3C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doc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0" y="3520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3520440"/>
            <a:ext cx="1207008" cy="777240"/>
          </a:xfrm>
          <a:prstGeom prst="roundRect">
            <a:avLst>
              <a:gd name="adj" fmla="val 10588"/>
            </a:avLst>
          </a:prstGeom>
          <a:solidFill>
            <a:srgbClr val="7E22CE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352044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150" dirty="0"/>
          </a:p>
        </p:txBody>
      </p:sp>
      <p:pic>
        <p:nvPicPr>
          <p:cNvPr id="3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4590288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— reading order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1325880"/>
            <a:ext cx="347472" cy="347472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07008" y="12984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DEVELOPER_ONBOARDING.md — this 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837944"/>
            <a:ext cx="347472" cy="347472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8105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DEVELOPMENT_TEAM_STATE.md — header, then the log backwards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350008"/>
            <a:ext cx="347472" cy="347472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23225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FEATURE_BRIEF.md — the roadmap &amp; locked decisions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2862072"/>
            <a:ext cx="347472" cy="347472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8346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server/app.js + one router end-to-end (deals.js)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3374136"/>
            <a:ext cx="347472" cy="347472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34670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lines 1–300 — tokens &amp; primitives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3886200"/>
            <a:ext cx="347472" cy="347472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38587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SECURITY runbooks — the fire extinguishers</a:t>
            </a:r>
            <a:endParaRPr lang="en-US" sz="1300" dirty="0"/>
          </a:p>
        </p:txBody>
      </p:sp>
      <p:pic>
        <p:nvPicPr>
          <p:cNvPr id="21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2057400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state doc. </a:t>
            </a:r>
            <a:pPr indent="0" marL="0">
              <a:buNone/>
            </a:pPr>
            <a:r>
              <a:rPr lang="en-US" sz="1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suite green.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ReLivR — Developer Onboarding</dc:title>
  <dc:subject>PptxGenJS Presentation</dc:subject>
  <dc:creator>ReLivR</dc:creator>
  <cp:lastModifiedBy>ReLivR</cp:lastModifiedBy>
  <cp:revision>1</cp:revision>
  <dcterms:created xsi:type="dcterms:W3CDTF">2026-07-04T10:48:07Z</dcterms:created>
  <dcterms:modified xsi:type="dcterms:W3CDTF">2026-07-04T10:48:07Z</dcterms:modified>
</cp:coreProperties>
</file>